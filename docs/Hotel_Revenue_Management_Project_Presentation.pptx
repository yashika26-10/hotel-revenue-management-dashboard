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51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1F45"/>
          </a:solidFill>
          <a:ln w="12700">
            <a:solidFill>
              <a:srgbClr val="17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Revenue Management 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6019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3108960"/>
          </a:xfrm>
          <a:prstGeom prst="ellipse">
            <a:avLst/>
          </a:prstGeom>
          <a:solidFill>
            <a:srgbClr val="3A2266">
              <a:alpha val="85000"/>
            </a:srgbClr>
          </a:solidFill>
          <a:ln w="16510">
            <a:solidFill>
              <a:srgbClr val="7651B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206240"/>
            <a:ext cx="3931920" cy="2560320"/>
          </a:xfrm>
          <a:prstGeom prst="ellipse">
            <a:avLst/>
          </a:prstGeom>
          <a:solidFill>
            <a:srgbClr val="123A74">
              <a:alpha val="85000"/>
            </a:srgbClr>
          </a:solidFill>
          <a:ln w="16510">
            <a:solidFill>
              <a:srgbClr val="3E8FD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0"/>
            <a:ext cx="2011680" cy="2011680"/>
          </a:xfrm>
          <a:prstGeom prst="ellipse">
            <a:avLst/>
          </a:prstGeom>
          <a:solidFill>
            <a:srgbClr val="1B2C60">
              <a:alpha val="85000"/>
            </a:srgbClr>
          </a:solidFill>
          <a:ln w="12700">
            <a:solidFill>
              <a:srgbClr val="4E73C1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10835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HOTEL REVENUE MANAGEMENT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325880" y="258775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D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Occupancy &amp; Pricing Performance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66160" y="3182112"/>
            <a:ext cx="5074920" cy="0"/>
          </a:xfrm>
          <a:prstGeom prst="line">
            <a:avLst/>
          </a:prstGeom>
          <a:noFill/>
          <a:ln w="27940">
            <a:solidFill>
              <a:srgbClr val="68B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37033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by: Yashika Sharma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41330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B.Tech – CSE (Data Science)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45262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ABES Engineering College, Ghaziabad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5138928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6D46B8"/>
          </a:solidFill>
          <a:ln w="12700">
            <a:solidFill>
              <a:srgbClr val="6D46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5148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+ EXCEL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context, purpose and analytical scope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703320" cy="4434840"/>
          </a:xfrm>
          <a:prstGeom prst="roundRect">
            <a:avLst>
              <a:gd name="adj" fmla="val 2963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70832" y="1417320"/>
            <a:ext cx="3703320" cy="4434840"/>
          </a:xfrm>
          <a:prstGeom prst="roundRect">
            <a:avLst>
              <a:gd name="adj" fmla="val 2963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38744" y="1417320"/>
            <a:ext cx="3447288" cy="4434840"/>
          </a:xfrm>
          <a:prstGeom prst="roundRect">
            <a:avLst>
              <a:gd name="adj" fmla="val 3183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66420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733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operations generate booking, occupancy, pricing and revenue data that can be difficult to interpret from raw tables alone.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8952" y="3337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converts this information into a management-friendly analytical view.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26864" y="166420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673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PURPOSE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2185416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13055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room occupancy performance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626864" y="2734056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6791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revenue and monthly trends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626864" y="3282696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2278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ADR and RevPAR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626864" y="3831336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77647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properties and room classes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626864" y="4379976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43251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interactive business review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494776" y="1664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6D46B8"/>
          </a:solidFill>
          <a:ln w="12700">
            <a:solidFill>
              <a:srgbClr val="6D46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4776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94776" y="2212848"/>
            <a:ext cx="2880360" cy="1051560"/>
          </a:xfrm>
          <a:prstGeom prst="roundRect">
            <a:avLst>
              <a:gd name="adj" fmla="val 10435"/>
            </a:avLst>
          </a:prstGeom>
          <a:solidFill>
            <a:srgbClr val="111A3A"/>
          </a:solidFill>
          <a:ln w="12700">
            <a:solidFill>
              <a:srgbClr val="2B39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94776" y="2212848"/>
            <a:ext cx="64008" cy="1051560"/>
          </a:xfrm>
          <a:prstGeom prst="rect">
            <a:avLst/>
          </a:prstGeom>
          <a:solidFill>
            <a:srgbClr val="68B8FF"/>
          </a:solidFill>
          <a:ln w="12700">
            <a:solidFill>
              <a:srgbClr val="68B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9368" y="2377440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booking records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59368" y="2624328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134,590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494776" y="3456432"/>
            <a:ext cx="2880360" cy="1051560"/>
          </a:xfrm>
          <a:prstGeom prst="roundRect">
            <a:avLst>
              <a:gd name="adj" fmla="val 10435"/>
            </a:avLst>
          </a:prstGeom>
          <a:solidFill>
            <a:srgbClr val="111A3A"/>
          </a:solidFill>
          <a:ln w="12700">
            <a:solidFill>
              <a:srgbClr val="2B39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94776" y="3456432"/>
            <a:ext cx="64008" cy="1051560"/>
          </a:xfrm>
          <a:prstGeom prst="rect">
            <a:avLst/>
          </a:prstGeom>
          <a:solidFill>
            <a:srgbClr val="3CCB96"/>
          </a:solidFill>
          <a:ln w="12700">
            <a:solidFill>
              <a:srgbClr val="3CCB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9368" y="362102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period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59368" y="3867912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Apr–Jul 2022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494776" y="4700016"/>
            <a:ext cx="2880360" cy="1051560"/>
          </a:xfrm>
          <a:prstGeom prst="roundRect">
            <a:avLst>
              <a:gd name="adj" fmla="val 10435"/>
            </a:avLst>
          </a:prstGeom>
          <a:solidFill>
            <a:srgbClr val="111A3A"/>
          </a:solidFill>
          <a:ln w="12700">
            <a:solidFill>
              <a:srgbClr val="2B39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94776" y="4700016"/>
            <a:ext cx="64008" cy="1051560"/>
          </a:xfrm>
          <a:prstGeom prst="rect">
            <a:avLst/>
          </a:prstGeom>
          <a:solidFill>
            <a:srgbClr val="FFB04A"/>
          </a:solidFill>
          <a:ln w="12700">
            <a:solidFill>
              <a:srgbClr val="FFB0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9368" y="4864608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tools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59368" y="5111496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+ Excel</a:t>
            </a:r>
            <a:endParaRPr lang="en-US" sz="2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dashboard was needed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31B3C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5352" y="13716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62763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B04A"/>
          </a:solidFill>
          <a:ln w="12700">
            <a:solidFill>
              <a:srgbClr val="FFB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36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203704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4884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booking data is high-volume and difficult to interpret quickly.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4672" y="2953512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9864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Property, room-class and booking-status performance are spread across different fields.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3703320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48456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metrics such as ADR and RevPAR require calculated measures.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4672" y="445312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982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changes in occupancy and revenue need a common analytical timeline.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19672" y="162763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636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9672" y="21488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single interactive view that turns transactional booking data into understandable performance indicators.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19672" y="3474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should make it easier to compare properties, room classes and monthly performance while preserving an auditable Excel analysis layer.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19672" y="495604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3CCB96"/>
          </a:solidFill>
          <a:ln w="12700">
            <a:solidFill>
              <a:srgbClr val="3CCB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9651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61504" y="4965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 + Excel PivotTables + Timeline + Business Insights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 &amp; PROJECT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implementation was designed to deliver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563624"/>
            <a:ext cx="548640" cy="548640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18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472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occupancy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08760" y="18105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and compare occupancy across the observed period and properties.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563624"/>
            <a:ext cx="548640" cy="548640"/>
          </a:xfrm>
          <a:prstGeom prst="ellipse">
            <a:avLst/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618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86600" y="1472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/ monthly trends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86600" y="18105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monthly revenue, occupancy, ADR and RevPAR movements.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3044952"/>
            <a:ext cx="548640" cy="548640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099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2953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optimization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329184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ADR and RevPAR to analyze pricing and room-revenue performance.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172200" y="2807208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6792" y="3044952"/>
            <a:ext cx="548640" cy="548640"/>
          </a:xfrm>
          <a:prstGeom prst="ellipse">
            <a:avLst/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3099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953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&amp; room class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86600" y="329184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hotels and room classes using consistent measures.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594360" y="4288536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526280"/>
            <a:ext cx="548640" cy="548640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5811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reporting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508760" y="477316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slicers, synced filters and an Excel timeline for exploration.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172200" y="4288536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6792" y="4526280"/>
            <a:ext cx="548640" cy="548640"/>
          </a:xfrm>
          <a:prstGeom prst="ellipse">
            <a:avLst/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45811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insights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086600" y="477316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dashboard results into concise observations for management review.</a:t>
            </a:r>
            <a:endParaRPr lang="en-US" sz="128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DATA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booking records to analysis-ready tables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800600" cy="4526280"/>
          </a:xfrm>
          <a:prstGeom prst="roundRect">
            <a:avLst>
              <a:gd name="adj" fmla="val 2424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04688" y="1371600"/>
            <a:ext cx="6181344" cy="4526280"/>
          </a:xfrm>
          <a:prstGeom prst="roundRect">
            <a:avLst>
              <a:gd name="adj" fmla="val 2424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62763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367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SNAPSHOT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214884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111A3A"/>
          </a:solidFill>
          <a:ln w="12700">
            <a:solidFill>
              <a:srgbClr val="2B39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148840"/>
            <a:ext cx="64008" cy="1051560"/>
          </a:xfrm>
          <a:prstGeom prst="rect">
            <a:avLst/>
          </a:prstGeom>
          <a:solidFill>
            <a:srgbClr val="68B8FF"/>
          </a:solidFill>
          <a:ln w="12700">
            <a:solidFill>
              <a:srgbClr val="68B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31343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records loaded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23544" y="2560320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134,590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58952" y="3401568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111A3A"/>
          </a:solidFill>
          <a:ln w="12700">
            <a:solidFill>
              <a:srgbClr val="2B39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3401568"/>
            <a:ext cx="64008" cy="1051560"/>
          </a:xfrm>
          <a:prstGeom prst="rect">
            <a:avLst/>
          </a:prstGeom>
          <a:solidFill>
            <a:srgbClr val="3CCB96"/>
          </a:solidFill>
          <a:ln w="12700">
            <a:solidFill>
              <a:srgbClr val="3CCB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56616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3544" y="3813048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April–July 2022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58952" y="4654296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111A3A"/>
          </a:solidFill>
          <a:ln w="12700">
            <a:solidFill>
              <a:srgbClr val="2B39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654296"/>
            <a:ext cx="64008" cy="1051560"/>
          </a:xfrm>
          <a:prstGeom prst="rect">
            <a:avLst/>
          </a:prstGeom>
          <a:solidFill>
            <a:srgbClr val="FFB04A"/>
          </a:solidFill>
          <a:ln w="12700">
            <a:solidFill>
              <a:srgbClr val="FFB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81888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business fields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544" y="506577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· Room Class · Status · Revenue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760720" y="16276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6367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 STEPS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2176272"/>
            <a:ext cx="329184" cy="329184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22199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27648" y="21488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raw columns and data types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06440" y="2834640"/>
            <a:ext cx="329184" cy="329184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28803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27648" y="2807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/ append date tables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806440" y="3493008"/>
            <a:ext cx="329184" cy="329184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5387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27648" y="34655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month, week and day-type attributes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06440" y="4151376"/>
            <a:ext cx="329184" cy="329184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41970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27648" y="41239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readable property labels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806440" y="4809744"/>
            <a:ext cx="329184" cy="329184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485546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27648" y="47823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fact and dimension tables for reporting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779008" y="546811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8A95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 raw record count refers to the booking table loaded for analysis; dashboard KPIs are derived measures under the configured report model/filter context.</a:t>
            </a:r>
            <a:endParaRPr lang="en-US" sz="10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 &amp;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analytical workflow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12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257860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booking records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2167128" y="2441448"/>
            <a:ext cx="246888" cy="420624"/>
          </a:xfrm>
          <a:prstGeom prst="chevron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0116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212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QUERY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87752" y="257860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+ transform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133088" y="2441448"/>
            <a:ext cx="246888" cy="420624"/>
          </a:xfrm>
          <a:prstGeom prst="chevron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0116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212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257860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Facts + dimensions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099048" y="2441448"/>
            <a:ext cx="246888" cy="420624"/>
          </a:xfrm>
          <a:prstGeom prst="chevron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0116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212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DAX MEASURES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9672" y="257860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 &amp; ratios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065008" y="2441448"/>
            <a:ext cx="246888" cy="420624"/>
          </a:xfrm>
          <a:prstGeom prst="chevron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20116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4A2A7B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212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85632" y="257860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10030968" y="2441448"/>
            <a:ext cx="246888" cy="420624"/>
          </a:xfrm>
          <a:prstGeom prst="chevron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0" y="20116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1C4E79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0" y="2212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451592" y="257860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PivotTables + Timeline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1097280" y="4069080"/>
            <a:ext cx="9994392" cy="1115568"/>
          </a:xfrm>
          <a:prstGeom prst="roundRect">
            <a:avLst>
              <a:gd name="adj" fmla="val 9836"/>
            </a:avLst>
          </a:prstGeom>
          <a:solidFill>
            <a:srgbClr val="0F1734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4279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analytical layer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154680" y="4224528"/>
            <a:ext cx="7406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 •  Realized Revenue  •  ADR  •  RevPAR  •  Booking Status  •  Property / Room Class performance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&amp; DAX MEASURES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metrics used to drive the dashboard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77640" cy="4709160"/>
          </a:xfrm>
          <a:prstGeom prst="roundRect">
            <a:avLst>
              <a:gd name="adj" fmla="val 2759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9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STRUCTURE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3429000" cy="1024128"/>
          </a:xfrm>
          <a:prstGeom prst="roundRect">
            <a:avLst>
              <a:gd name="adj" fmla="val 10714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591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D4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0" y="23591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fact_bookings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fact_aggregated_bookings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313432" y="3255264"/>
            <a:ext cx="164592" cy="256032"/>
          </a:xfrm>
          <a:prstGeom prst="downArrow">
            <a:avLst/>
          </a:prstGeom>
          <a:solidFill>
            <a:srgbClr val="8A95AE"/>
          </a:solidFill>
          <a:ln w="12700">
            <a:solidFill>
              <a:srgbClr val="8A9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621024"/>
            <a:ext cx="3429000" cy="1024128"/>
          </a:xfrm>
          <a:prstGeom prst="roundRect">
            <a:avLst>
              <a:gd name="adj" fmla="val 10714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856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45920" y="378561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dim_date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dim_hotels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dim_rooms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Query also prepared readable property labels and date attributes such as month, week and day type.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6976872" cy="4709160"/>
          </a:xfrm>
          <a:prstGeom prst="roundRect">
            <a:avLst>
              <a:gd name="adj" fmla="val 2330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6002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6093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DAX MEASURES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2103120"/>
            <a:ext cx="6355080" cy="1115568"/>
          </a:xfrm>
          <a:prstGeom prst="roundRect">
            <a:avLst>
              <a:gd name="adj" fmla="val 9836"/>
            </a:avLst>
          </a:prstGeom>
          <a:solidFill>
            <a:srgbClr val="0F1734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267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89320" y="2221992"/>
            <a:ext cx="5047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DIVIDE([Realized Revenue], [Successful Bookings], BLANK())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230368" y="26334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realized revenue per successful booking.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983480" y="3429000"/>
            <a:ext cx="6355080" cy="1115568"/>
          </a:xfrm>
          <a:prstGeom prst="roundRect">
            <a:avLst>
              <a:gd name="adj" fmla="val 9836"/>
            </a:avLst>
          </a:prstGeom>
          <a:solidFill>
            <a:srgbClr val="0F1734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359359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RevPAR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99632" y="3547872"/>
            <a:ext cx="4828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DIVIDE([Realized Revenue], [Total Capacity], BLANK())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5230368" y="396849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generated per available room.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983480" y="4736592"/>
            <a:ext cx="6355080" cy="896112"/>
          </a:xfrm>
          <a:prstGeom prst="roundRect">
            <a:avLst>
              <a:gd name="adj" fmla="val 12245"/>
            </a:avLst>
          </a:prstGeom>
          <a:solidFill>
            <a:srgbClr val="152041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4928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3CCB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%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565392" y="490118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occupancy measure from the aggregated booking / capacity layer.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83480" y="5779008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8A95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with BLANK() was used so missing denominators do not display a false zero.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report interactive and decision-oriented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91056"/>
            <a:ext cx="502920" cy="502920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563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Bookings, realized revenue, occupancy, ADR and RevPAR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1389888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591056"/>
            <a:ext cx="502920" cy="502920"/>
          </a:xfrm>
          <a:prstGeom prst="ellipse">
            <a:avLst/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6733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563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Synced Slicers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85232" y="1920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Class, Month, Booking Status and property-focused filtering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38744" y="1389888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1591056"/>
            <a:ext cx="502920" cy="502920"/>
          </a:xfrm>
          <a:prstGeom prst="ellipse">
            <a:avLst/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16733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07424" y="1563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07424" y="1920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occupancy and RevPAR by property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3832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66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35570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Class Analysis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3913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ADR comparison across room classes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16552" y="33832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3584448"/>
            <a:ext cx="502920" cy="502920"/>
          </a:xfrm>
          <a:prstGeom prst="ellipse">
            <a:avLst/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3666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35570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Analysis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85232" y="3913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revenue, occupancy, ADR and RevPAR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38744" y="33832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1624" y="3584448"/>
            <a:ext cx="502920" cy="502920"/>
          </a:xfrm>
          <a:prstGeom prst="ellipse">
            <a:avLst/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21624" y="3666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07424" y="35570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Audit Layer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07424" y="3913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PivotTables, Booking Date Timeline and written insights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PAGE 1 — ROOM OCCUPANCY &amp; HOTEL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KPI view and hotel-wide performance trends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4828032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970">
            <a:solidFill>
              <a:srgbClr val="32406E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" y="5852160"/>
            <a:ext cx="10963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 — overview, bookings, occupancy, room class, ADR and RevPAR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292473-4C52-E7FB-96E4-F3A4E922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60" y="1335023"/>
            <a:ext cx="11162071" cy="4828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PAGE 2 — REVENUE OPTIMISATION &amp; PROPERTY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Property-level revenue, occupancy, RevPAR and room-class comparisons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4828032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970">
            <a:solidFill>
              <a:srgbClr val="32406E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" y="5852160"/>
            <a:ext cx="10963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 — property ranking, occupancy and room-class performance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1AB5BF-9B79-8FA5-A0E7-A847514EB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1335024"/>
            <a:ext cx="1118311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PAGE 3 — SEASONAL TRENDS &amp; REVENUE OPTIMISATION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occupancy, ADR, RevPAR and revenue pattern analysis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4828032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970">
            <a:solidFill>
              <a:srgbClr val="32406E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" y="5852160"/>
            <a:ext cx="10963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 — monthly trends and room-class revenue share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553FA6-7F22-3529-5891-7510B3A6F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35024"/>
            <a:ext cx="1118311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 ANALYSIS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PivotTables, Timeline and auditable business insights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492240" cy="4553712"/>
          </a:xfrm>
          <a:prstGeom prst="roundRect">
            <a:avLst>
              <a:gd name="adj" fmla="val 2410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42048" y="1371600"/>
            <a:ext cx="4443984" cy="4553712"/>
          </a:xfrm>
          <a:prstGeom prst="roundRect">
            <a:avLst>
              <a:gd name="adj" fmla="val 2469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6459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550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PIVOT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" y="2194560"/>
            <a:ext cx="5897880" cy="566928"/>
          </a:xfrm>
          <a:prstGeom prst="roundRect">
            <a:avLst>
              <a:gd name="adj" fmla="val 19355"/>
            </a:avLst>
          </a:prstGeom>
          <a:solidFill>
            <a:srgbClr val="0F1734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500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PT_MonthlyRevenue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172968" y="23500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realized revenue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68096" y="2926080"/>
            <a:ext cx="5897880" cy="566928"/>
          </a:xfrm>
          <a:prstGeom prst="roundRect">
            <a:avLst>
              <a:gd name="adj" fmla="val 19355"/>
            </a:avLst>
          </a:prstGeom>
          <a:solidFill>
            <a:srgbClr val="0F1734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0815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PT_RevenueByProperty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3172968" y="30815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property name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68096" y="3657600"/>
            <a:ext cx="5897880" cy="566928"/>
          </a:xfrm>
          <a:prstGeom prst="roundRect">
            <a:avLst>
              <a:gd name="adj" fmla="val 19355"/>
            </a:avLst>
          </a:prstGeom>
          <a:solidFill>
            <a:srgbClr val="0F1734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130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PT_BookingsByPlatform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3172968" y="38130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channels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68096" y="4389120"/>
            <a:ext cx="5897880" cy="566928"/>
          </a:xfrm>
          <a:prstGeom prst="roundRect">
            <a:avLst>
              <a:gd name="adj" fmla="val 19355"/>
            </a:avLst>
          </a:prstGeom>
          <a:solidFill>
            <a:srgbClr val="0F1734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5445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PT_BookingsByStatus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3172968" y="454456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status distribution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534656" y="16459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A2A7B"/>
          </a:solidFill>
          <a:ln w="12700">
            <a:solidFill>
              <a:srgbClr val="4A2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4656" y="16550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34656" y="2194560"/>
            <a:ext cx="3822192" cy="1188720"/>
          </a:xfrm>
          <a:prstGeom prst="roundRect">
            <a:avLst>
              <a:gd name="adj" fmla="val 9231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3957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DATE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90688" y="27249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 Feb  Mar  Apr  May  Jun  Jul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790688" y="2999232"/>
            <a:ext cx="3310128" cy="73152"/>
          </a:xfrm>
          <a:prstGeom prst="rect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36576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month filtering was linked to the PivotTables.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34656" y="4645152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3CCB96"/>
          </a:solidFill>
          <a:ln w="12700">
            <a:solidFill>
              <a:srgbClr val="3CCB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34656" y="465429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34656" y="501091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separate Business_Insights sheet documents the observed trends and data limitation.</a:t>
            </a:r>
            <a:endParaRPr lang="en-US" sz="12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results from the dashboard and Excel analysis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17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KPI view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default dashboard shows 3K bookings, ₹52M realized revenue, 44.8% occupancy, ₹15.16K ADR and ₹6.80K RevPAR.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172200" y="1353312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517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6D4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355080" y="1856232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declines through the observed May–July period, while ADR and RevPAR rise into June and then soften in July.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94360" y="288036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44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performance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property ranking highlights clear differences in revenue, occupancy and RevPAR across hotels.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172200" y="288036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044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6D4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Room-class mix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355080" y="3383280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revenue-share visual shows Elite 32.79%, Premium 27.05%, Presidential 22.05% and Standard 18.12%.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94360" y="4407408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72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68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status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777240" y="4910328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analysis shows Checked Out as the largest status group: 94,411 of 134,590 records.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172200" y="4407408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11A3A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572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6D4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use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6355080" y="4910328"/>
            <a:ext cx="4828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combined dashboard and Excel layer supports faster comparison, trend review and follow-up analysis.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640080" y="592531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5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descriptive observations from the project data; they are not forecasts.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27940">
            <a:solidFill>
              <a:srgbClr val="1597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current version can and cannot claim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5352" y="13716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31C42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B04A"/>
          </a:solidFill>
          <a:ln w="12700">
            <a:solidFill>
              <a:srgbClr val="FFB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55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95528" y="221284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5798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covers April–July 2022 only.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95528" y="303580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98094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months support monthly trend analysis but not a full-year seasonality study.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80390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 ADR and RevPAR are blank because a comparable denominator is unavailable in that context.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795528" y="468172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6268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descriptive and depend on the configured report model and filters.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6510528" y="16459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CCB96"/>
          </a:solidFill>
          <a:ln w="12700">
            <a:solidFill>
              <a:srgbClr val="3CCB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655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221284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215798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the dataset to 12+ months for stronger seasonal analysis.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528816" y="303580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4264" y="298094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forecasting for occupancy, ADR and RevPAR.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6528816" y="385876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380390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cancellation and customer-segmentation analysis.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528816" y="4681728"/>
            <a:ext cx="73152" cy="73152"/>
          </a:xfrm>
          <a:prstGeom prst="ellipse">
            <a:avLst/>
          </a:prstGeom>
          <a:solidFill>
            <a:srgbClr val="1597F4"/>
          </a:solidFill>
          <a:ln w="12700">
            <a:solidFill>
              <a:srgbClr val="1597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46268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automated refresh and broader operational KPIs.</a:t>
            </a:r>
            <a:endParaRPr lang="en-US" sz="15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3474720" cy="2377440"/>
          </a:xfrm>
          <a:prstGeom prst="ellipse">
            <a:avLst/>
          </a:prstGeom>
          <a:solidFill>
            <a:srgbClr val="2B1D54">
              <a:alpha val="95000"/>
            </a:srgbClr>
          </a:solidFill>
          <a:ln w="12700">
            <a:solidFill>
              <a:srgbClr val="6B4BA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0"/>
            <a:ext cx="3657600" cy="2560320"/>
          </a:xfrm>
          <a:prstGeom prst="ellipse">
            <a:avLst/>
          </a:prstGeom>
          <a:solidFill>
            <a:srgbClr val="153A72">
              <a:alpha val="95000"/>
            </a:srgbClr>
          </a:solidFill>
          <a:ln w="12700">
            <a:solidFill>
              <a:srgbClr val="5E91D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transforms hotel booking data into an interactive revenue-management view.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20240" y="2788920"/>
            <a:ext cx="8366760" cy="1463040"/>
          </a:xfrm>
          <a:prstGeom prst="roundRect">
            <a:avLst>
              <a:gd name="adj" fmla="val 7500"/>
            </a:avLst>
          </a:prstGeom>
          <a:solidFill>
            <a:srgbClr val="141D3F"/>
          </a:solidFill>
          <a:ln w="12700">
            <a:solidFill>
              <a:srgbClr val="2632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108960"/>
            <a:ext cx="7543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provides the interactive dashboard, while Excel adds PivotTables, a Timeline and written business observations for traceability.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489204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6D46B8"/>
          </a:solidFill>
          <a:ln w="12700">
            <a:solidFill>
              <a:srgbClr val="6D4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9011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5376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EB7D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1154</Words>
  <Application>Microsoft Office PowerPoint</Application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ABES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Revenue Management Dashboard</dc:title>
  <dc:subject>Hotel Revenue Management Dashboard</dc:subject>
  <dc:creator>Yashika Sharma</dc:creator>
  <cp:lastModifiedBy>Nalin Attrey</cp:lastModifiedBy>
  <cp:revision>2</cp:revision>
  <dcterms:created xsi:type="dcterms:W3CDTF">2026-09-30T07:33:46Z</dcterms:created>
  <dcterms:modified xsi:type="dcterms:W3CDTF">2026-09-30T07:44:07Z</dcterms:modified>
</cp:coreProperties>
</file>